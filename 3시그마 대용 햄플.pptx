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 snapToObjects="1">
      <p:cViewPr varScale="1">
        <p:scale>
          <a:sx n="90" d="100"/>
          <a:sy n="90" d="100"/>
        </p:scale>
        <p:origin x="232" y="8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EF6"/>
                </a:solidFill>
                <a:latin typeface="Calibri"/>
              </a:defRPr>
            </a:pPr>
            <a:r>
              <a:t>① Hampel Filter — 어떻게 작동하는가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hampel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94944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06640" y="1280160"/>
            <a:ext cx="4572000" cy="5120640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4173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판정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82880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Step 1. 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웨이퍼</a:t>
            </a:r>
            <a:r>
              <a:rPr dirty="0"/>
              <a:t> </a:t>
            </a:r>
            <a:r>
              <a:rPr dirty="0" err="1"/>
              <a:t>내</a:t>
            </a:r>
            <a:r>
              <a:rPr dirty="0"/>
              <a:t> 8방향 </a:t>
            </a:r>
            <a:r>
              <a:rPr dirty="0" err="1"/>
              <a:t>이웃</a:t>
            </a:r>
            <a:r>
              <a:rPr dirty="0"/>
              <a:t> </a:t>
            </a:r>
            <a:r>
              <a:rPr dirty="0" err="1"/>
              <a:t>다이</a:t>
            </a:r>
            <a:r>
              <a:rPr dirty="0"/>
              <a:t> </a:t>
            </a:r>
            <a:r>
              <a:rPr dirty="0" err="1"/>
              <a:t>수집</a:t>
            </a:r>
            <a:endParaRPr dirty="0"/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endParaRPr dirty="0"/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Step 2.  </a:t>
            </a:r>
            <a:r>
              <a:rPr dirty="0" err="1"/>
              <a:t>이웃들의</a:t>
            </a:r>
            <a:r>
              <a:rPr dirty="0"/>
              <a:t> </a:t>
            </a:r>
            <a:r>
              <a:rPr dirty="0" err="1"/>
              <a:t>중간값</a:t>
            </a:r>
            <a:r>
              <a:rPr dirty="0"/>
              <a:t> m, MAD s </a:t>
            </a:r>
            <a:r>
              <a:rPr dirty="0" err="1"/>
              <a:t>계산</a:t>
            </a:r>
            <a:endParaRPr dirty="0"/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         (m = median, s = median(|x − m|))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endParaRPr dirty="0"/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Step 3.  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다이</a:t>
            </a:r>
            <a:r>
              <a:rPr dirty="0"/>
              <a:t> </a:t>
            </a:r>
            <a:r>
              <a:rPr dirty="0" err="1"/>
              <a:t>값</a:t>
            </a:r>
            <a:r>
              <a:rPr dirty="0"/>
              <a:t> </a:t>
            </a:r>
            <a:r>
              <a:rPr dirty="0" err="1"/>
              <a:t>x와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: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         |x − m| &gt; k · s   →   outlier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         (k = 3, </a:t>
            </a:r>
            <a:r>
              <a:rPr dirty="0" err="1"/>
              <a:t>보통</a:t>
            </a:r>
            <a:r>
              <a:rPr dirty="0"/>
              <a:t> 3-sigma </a:t>
            </a:r>
            <a:r>
              <a:rPr dirty="0" err="1"/>
              <a:t>자리</a:t>
            </a:r>
            <a:r>
              <a:rPr dirty="0"/>
              <a:t>)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endParaRPr dirty="0"/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Step 4.  </a:t>
            </a:r>
            <a:r>
              <a:rPr dirty="0" err="1"/>
              <a:t>이웃이</a:t>
            </a:r>
            <a:r>
              <a:rPr dirty="0"/>
              <a:t> &lt; 3개면 </a:t>
            </a:r>
            <a:r>
              <a:rPr dirty="0" err="1"/>
              <a:t>검사</a:t>
            </a:r>
            <a:r>
              <a:rPr dirty="0"/>
              <a:t> skip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         (</a:t>
            </a:r>
            <a:r>
              <a:rPr dirty="0" err="1"/>
              <a:t>가장자리</a:t>
            </a:r>
            <a:r>
              <a:rPr dirty="0"/>
              <a:t> </a:t>
            </a:r>
            <a:r>
              <a:rPr dirty="0" err="1"/>
              <a:t>다이</a:t>
            </a:r>
            <a:r>
              <a:rPr dirty="0"/>
              <a:t> </a:t>
            </a:r>
            <a:r>
              <a:rPr dirty="0" err="1"/>
              <a:t>보호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EF6"/>
                </a:solidFill>
                <a:latin typeface="Calibri"/>
              </a:defRPr>
            </a:pPr>
            <a:r>
              <a:t>② 왜 3-sigma 대신 Hampel을 쓰는가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robust_vs_3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486400"/>
            <a:ext cx="11430000" cy="1188720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5595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핵심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①  3-sigma는 </a:t>
            </a:r>
            <a:r>
              <a:rPr dirty="0" err="1"/>
              <a:t>평균·σ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→ </a:t>
            </a:r>
            <a:r>
              <a:rPr dirty="0" err="1"/>
              <a:t>이상치가</a:t>
            </a:r>
            <a:r>
              <a:rPr dirty="0"/>
              <a:t> </a:t>
            </a:r>
            <a:r>
              <a:rPr dirty="0" err="1"/>
              <a:t>평균·σ를</a:t>
            </a:r>
            <a:r>
              <a:rPr dirty="0"/>
              <a:t> </a:t>
            </a:r>
            <a:r>
              <a:rPr dirty="0" err="1"/>
              <a:t>끌어올려서</a:t>
            </a:r>
            <a:r>
              <a:rPr dirty="0"/>
              <a:t> </a:t>
            </a:r>
            <a:r>
              <a:rPr dirty="0" err="1"/>
              <a:t>자기</a:t>
            </a:r>
            <a:r>
              <a:rPr dirty="0"/>
              <a:t> </a:t>
            </a:r>
            <a:r>
              <a:rPr dirty="0" err="1"/>
              <a:t>자신을</a:t>
            </a:r>
            <a:r>
              <a:rPr dirty="0"/>
              <a:t> </a:t>
            </a:r>
            <a:r>
              <a:rPr dirty="0" err="1"/>
              <a:t>숨김</a:t>
            </a:r>
            <a:endParaRPr dirty="0"/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②  </a:t>
            </a:r>
            <a:r>
              <a:rPr dirty="0" err="1"/>
              <a:t>중간값·MAD는</a:t>
            </a:r>
            <a:r>
              <a:rPr dirty="0"/>
              <a:t> </a:t>
            </a:r>
            <a:r>
              <a:rPr dirty="0" err="1"/>
              <a:t>이상치에</a:t>
            </a:r>
            <a:r>
              <a:rPr dirty="0"/>
              <a:t> </a:t>
            </a:r>
            <a:r>
              <a:rPr dirty="0" err="1"/>
              <a:t>끌려가지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 (robust, breakdown 50%)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③  </a:t>
            </a:r>
            <a:r>
              <a:rPr lang="ko-KR" altLang="en-US" dirty="0"/>
              <a:t>표본 </a:t>
            </a:r>
            <a:r>
              <a:rPr lang="en-US" altLang="ko-KR" dirty="0"/>
              <a:t>14</a:t>
            </a:r>
            <a:r>
              <a:rPr lang="ko-KR" altLang="en-US" dirty="0"/>
              <a:t>개로 중심 극한 정리에 위배되어 정규분포로 볼 수 없음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EF6"/>
                </a:solidFill>
                <a:latin typeface="Calibri"/>
              </a:defRPr>
            </a:pPr>
            <a:r>
              <a:t>③ 물리 한계 (Physical Bounds)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physical_b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400800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49440" y="1234440"/>
            <a:ext cx="5029200" cy="3657600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디바이스 사양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7830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t>·  Standard TE-mode Si depletion MZM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t>·  Single-arm DC bias drive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t>·  MMI splitter (분배비 ±0.3 dB)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t>·  Single-stage (cascade 없음)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t>·  No polarization filter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t>·  No push-pull, no advanced ER tricks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endParaRPr/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t>→ baseline 디바이스 → 한계도 baseline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507492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EEF6"/>
                          </a:solidFill>
                          <a:latin typeface="Calibri"/>
                        </a:defRPr>
                      </a:pPr>
                      <a:r>
                        <a:t>지표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EEF6"/>
                          </a:solidFill>
                          <a:latin typeface="Calibri"/>
                        </a:defRPr>
                      </a:pPr>
                      <a:r>
                        <a:t>범위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8EEF6"/>
                          </a:solidFill>
                          <a:latin typeface="Calibri"/>
                        </a:defRPr>
                      </a:pPr>
                      <a:r>
                        <a:t>근거 요약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EF6"/>
                          </a:solidFill>
                          <a:latin typeface="Calibri"/>
                        </a:defRPr>
                      </a:pPr>
                      <a:r>
                        <a:t>ER (dB)</a:t>
                      </a:r>
                    </a:p>
                  </a:txBody>
                  <a:tcPr>
                    <a:solidFill>
                      <a:srgbClr val="0D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EF6"/>
                          </a:solidFill>
                          <a:latin typeface="Calibri"/>
                        </a:defRPr>
                      </a:pPr>
                      <a:r>
                        <a:t>[0, 45]</a:t>
                      </a:r>
                    </a:p>
                  </a:txBody>
                  <a:tcPr>
                    <a:solidFill>
                      <a:srgbClr val="0D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EF6"/>
                          </a:solidFill>
                          <a:latin typeface="Calibri"/>
                        </a:defRPr>
                      </a:pPr>
                      <a:r>
                        <a:t>정의상 ≥0 / TE Si depletion + MMI 한계</a:t>
                      </a:r>
                    </a:p>
                  </a:txBody>
                  <a:tcPr>
                    <a:solidFill>
                      <a:srgbClr val="0D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EF6"/>
                          </a:solidFill>
                          <a:latin typeface="Calibri"/>
                        </a:defRPr>
                      </a:pPr>
                      <a:r>
                        <a:t>IL (dB)</a:t>
                      </a:r>
                    </a:p>
                  </a:txBody>
                  <a:tcPr>
                    <a:solidFill>
                      <a:srgbClr val="11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EF6"/>
                          </a:solidFill>
                          <a:latin typeface="Calibri"/>
                        </a:defRPr>
                      </a:pPr>
                      <a:r>
                        <a:t>[−20, 0]</a:t>
                      </a:r>
                    </a:p>
                  </a:txBody>
                  <a:tcPr>
                    <a:solidFill>
                      <a:srgbClr val="11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EF6"/>
                          </a:solidFill>
                          <a:latin typeface="Calibri"/>
                        </a:defRPr>
                      </a:pPr>
                      <a:r>
                        <a:t>패시브 → ≤0 / 운용 한계 마진</a:t>
                      </a:r>
                    </a:p>
                  </a:txBody>
                  <a:tcPr>
                    <a:solidFill>
                      <a:srgbClr val="11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EF6"/>
                          </a:solidFill>
                          <a:latin typeface="Calibri"/>
                        </a:defRPr>
                      </a:pPr>
                      <a:r>
                        <a:t>V_π (V)</a:t>
                      </a:r>
                    </a:p>
                  </a:txBody>
                  <a:tcPr>
                    <a:solidFill>
                      <a:srgbClr val="0D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EF6"/>
                          </a:solidFill>
                          <a:latin typeface="Calibri"/>
                        </a:defRPr>
                      </a:pPr>
                      <a:r>
                        <a:t>[5, 80]</a:t>
                      </a:r>
                    </a:p>
                  </a:txBody>
                  <a:tcPr>
                    <a:solidFill>
                      <a:srgbClr val="0D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EF6"/>
                          </a:solidFill>
                          <a:latin typeface="Calibri"/>
                        </a:defRPr>
                      </a:pPr>
                      <a:r>
                        <a:t>V_π·L 1~3 V·cm × 짧은 phase shifter / 외삽 한계</a:t>
                      </a:r>
                    </a:p>
                  </a:txBody>
                  <a:tcPr>
                    <a:solidFill>
                      <a:srgbClr val="0D1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도표, 직사각형이(가) 표시된 사진&#10;&#10;자동 생성된 설명">
            <a:extLst>
              <a:ext uri="{FF2B5EF4-FFF2-40B4-BE49-F238E27FC236}">
                <a16:creationId xmlns:a16="http://schemas.microsoft.com/office/drawing/2014/main" id="{3FEC6DBD-9440-894C-4428-673287374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3229"/>
            <a:ext cx="5972175" cy="3229850"/>
          </a:xfrm>
          <a:prstGeom prst="rect">
            <a:avLst/>
          </a:prstGeom>
        </p:spPr>
      </p:pic>
      <p:pic>
        <p:nvPicPr>
          <p:cNvPr id="10" name="그림 9" descr="텍스트, 스크린샷, 도표, 직사각형이(가) 표시된 사진&#10;&#10;자동 생성된 설명">
            <a:extLst>
              <a:ext uri="{FF2B5EF4-FFF2-40B4-BE49-F238E27FC236}">
                <a16:creationId xmlns:a16="http://schemas.microsoft.com/office/drawing/2014/main" id="{BDFC314C-7F58-4D4C-CA33-C0CF4C115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175" y="1580759"/>
            <a:ext cx="6388100" cy="345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64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도표, 스크린샷, 직사각형이(가) 표시된 사진&#10;&#10;자동 생성된 설명">
            <a:extLst>
              <a:ext uri="{FF2B5EF4-FFF2-40B4-BE49-F238E27FC236}">
                <a16:creationId xmlns:a16="http://schemas.microsoft.com/office/drawing/2014/main" id="{762C3074-2851-AE6E-61DC-8385A30B2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1804193"/>
            <a:ext cx="6008718" cy="3249613"/>
          </a:xfrm>
          <a:prstGeom prst="rect">
            <a:avLst/>
          </a:prstGeom>
        </p:spPr>
      </p:pic>
      <p:pic>
        <p:nvPicPr>
          <p:cNvPr id="3" name="그림 2" descr="텍스트, 스크린샷, 도표, 평면도이(가) 표시된 사진&#10;&#10;자동 생성된 설명">
            <a:extLst>
              <a:ext uri="{FF2B5EF4-FFF2-40B4-BE49-F238E27FC236}">
                <a16:creationId xmlns:a16="http://schemas.microsoft.com/office/drawing/2014/main" id="{80EB0EC6-5535-0BF4-8818-56EBBC3BC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280" y="1685924"/>
            <a:ext cx="6008720" cy="324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12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라인, 도표이(가) 표시된 사진&#10;&#10;자동 생성된 설명">
            <a:extLst>
              <a:ext uri="{FF2B5EF4-FFF2-40B4-BE49-F238E27FC236}">
                <a16:creationId xmlns:a16="http://schemas.microsoft.com/office/drawing/2014/main" id="{09103526-680C-7DC9-24C8-398DE4D46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00225"/>
            <a:ext cx="6038281" cy="3265601"/>
          </a:xfrm>
          <a:prstGeom prst="rect">
            <a:avLst/>
          </a:prstGeom>
        </p:spPr>
      </p:pic>
      <p:pic>
        <p:nvPicPr>
          <p:cNvPr id="3" name="그림 2" descr="텍스트, 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145A55FE-65FF-FD7F-E23D-E0507122F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00225"/>
            <a:ext cx="645783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140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EF6"/>
                </a:solidFill>
                <a:latin typeface="Calibri"/>
              </a:defRPr>
            </a:pPr>
            <a:r>
              <a:t>④ 인용 출처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2103120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[Si MZM 성능 범위 — ER, IL, V_π]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· Patel et al., "Design, analysis, and transmission system performance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         of a 41 GHz silicon photonic modulator",  Optics Express 23, 14263 (2015)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         → standard TE Si </a:t>
            </a:r>
            <a:r>
              <a:rPr dirty="0" err="1"/>
              <a:t>MZM의</a:t>
            </a:r>
            <a:r>
              <a:rPr dirty="0"/>
              <a:t> ER 35–45 dB / IL 4–8 dB </a:t>
            </a:r>
            <a:r>
              <a:rPr dirty="0" err="1"/>
              <a:t>보고</a:t>
            </a:r>
            <a:endParaRPr dirty="0"/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· </a:t>
            </a:r>
            <a:r>
              <a:rPr dirty="0" err="1"/>
              <a:t>Witzens</a:t>
            </a:r>
            <a:r>
              <a:rPr dirty="0"/>
              <a:t>, "High-Speed Silicon Photonics Modulators",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         Proceedings of the IEEE 106, 2158 (2018)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rPr dirty="0"/>
              <a:t>         DOI: 10.1109/JPROC.2018.2877636   → </a:t>
            </a:r>
            <a:r>
              <a:rPr dirty="0" err="1"/>
              <a:t>종합</a:t>
            </a:r>
            <a:r>
              <a:rPr dirty="0"/>
              <a:t>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20440"/>
            <a:ext cx="11247120" cy="1463040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630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[Plasma Dispersion 원전 — V_π·L 산출 근거]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t>· Soref &amp; Bennett, "Electrooptical effects in silicon",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t>         IEEE Journal of Quantum Electronics 23, 123 (1987)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t>         → Si plasma dispersion 효과의 정량 관계식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74920"/>
            <a:ext cx="11247120" cy="1463040"/>
          </a:xfrm>
          <a:prstGeom prst="roundRect">
            <a:avLst/>
          </a:prstGeom>
          <a:solidFill>
            <a:srgbClr val="12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184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[Hampel Filter 원전]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t>· Hampel, F.R., "The influence curve and its role in robust estimation",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t>         Journal of the American Statistical Association 69, 383 (1974)</a:t>
            </a:r>
          </a:p>
          <a:p>
            <a:pPr>
              <a:spcAft>
                <a:spcPts val="700"/>
              </a:spcAft>
              <a:defRPr sz="1100">
                <a:solidFill>
                  <a:srgbClr val="E8EEF6"/>
                </a:solidFill>
                <a:latin typeface="Calibri"/>
              </a:defRPr>
            </a:pPr>
            <a:r>
              <a:t>· Pearson, R.K., "Mining Imperfect Data", SIAM (2005) — 실무 가이드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456</Words>
  <Application>Microsoft Macintosh PowerPoint</Application>
  <PresentationFormat>와이드스크린</PresentationFormat>
  <Paragraphs>56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김한서</cp:lastModifiedBy>
  <cp:revision>3</cp:revision>
  <dcterms:created xsi:type="dcterms:W3CDTF">2013-01-27T09:14:16Z</dcterms:created>
  <dcterms:modified xsi:type="dcterms:W3CDTF">2026-05-03T12:33:19Z</dcterms:modified>
  <cp:category/>
</cp:coreProperties>
</file>